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 Mon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Mon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italic.fntdata"/><Relationship Id="rId6" Type="http://schemas.openxmlformats.org/officeDocument/2006/relationships/slide" Target="slides/slide1.xml"/><Relationship Id="rId18" Type="http://schemas.openxmlformats.org/officeDocument/2006/relationships/font" Target="fonts/RobotoMon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74cff035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74cff035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74cff035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74cff035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74cff0352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74cff0352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74cff0352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74cff035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74cff035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74cff035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74cff035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74cff035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74cff0352_5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74cff0352_5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74cff0352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74cff0352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74cff0352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e74cff0352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74cff0352_4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e74cff0352_4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Cohérence Totale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Track B - Quantum image generation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311700" y="1331675"/>
            <a:ext cx="5245200" cy="3351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418800" y="1445525"/>
            <a:ext cx="5031000" cy="3123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CA" sz="4020"/>
              <a:t>Image generation</a:t>
            </a:r>
            <a:endParaRPr b="1" sz="4020"/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15456" l="0" r="0" t="20144"/>
          <a:stretch/>
        </p:blipFill>
        <p:spPr>
          <a:xfrm>
            <a:off x="2568550" y="1806190"/>
            <a:ext cx="2619375" cy="112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 rotWithShape="1">
          <a:blip r:embed="rId4">
            <a:alphaModFix/>
          </a:blip>
          <a:srcRect b="20281" l="0" r="16037" t="0"/>
          <a:stretch/>
        </p:blipFill>
        <p:spPr>
          <a:xfrm>
            <a:off x="847650" y="3454775"/>
            <a:ext cx="3724350" cy="89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8950" y="1746796"/>
            <a:ext cx="1510775" cy="151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57750" y="225150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1050" y="1806200"/>
            <a:ext cx="2923786" cy="112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CA" sz="3020"/>
              <a:t>Just like a Classical AI</a:t>
            </a:r>
            <a:endParaRPr b="1" sz="3020"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52475"/>
            <a:ext cx="2843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CA" sz="1900">
                <a:solidFill>
                  <a:schemeClr val="dk1"/>
                </a:solidFill>
              </a:rPr>
              <a:t>Does any prompt work?</a:t>
            </a:r>
            <a:br>
              <a:rPr lang="en-CA" sz="1900">
                <a:solidFill>
                  <a:schemeClr val="dk1"/>
                </a:solidFill>
              </a:rPr>
            </a:br>
            <a:br>
              <a:rPr lang="en-CA" sz="1900">
                <a:solidFill>
                  <a:schemeClr val="dk1"/>
                </a:solidFill>
              </a:rPr>
            </a:br>
            <a:r>
              <a:rPr lang="en-CA" sz="1900">
                <a:solidFill>
                  <a:schemeClr val="dk1"/>
                </a:solidFill>
              </a:rPr>
              <a:t>How does it work and what is new?</a:t>
            </a:r>
            <a:br>
              <a:rPr lang="en-CA" sz="1900">
                <a:solidFill>
                  <a:schemeClr val="dk1"/>
                </a:solidFill>
              </a:rPr>
            </a:br>
            <a:br>
              <a:rPr lang="en-CA" sz="1900">
                <a:solidFill>
                  <a:schemeClr val="dk1"/>
                </a:solidFill>
              </a:rPr>
            </a:br>
            <a:r>
              <a:rPr lang="en-CA" sz="1900">
                <a:solidFill>
                  <a:schemeClr val="dk1"/>
                </a:solidFill>
              </a:rPr>
              <a:t>Why such a low resolution?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7200" y="1170125"/>
            <a:ext cx="5684401" cy="3586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CA" sz="3020" u="sng"/>
              <a:t>The training algorithm (First model)</a:t>
            </a:r>
            <a:endParaRPr b="1" sz="3020" u="sng"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162525" y="1152475"/>
            <a:ext cx="4131900" cy="15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440"/>
              <a:buNone/>
            </a:pPr>
            <a:r>
              <a:rPr b="1" lang="en-CA" sz="1620">
                <a:solidFill>
                  <a:schemeClr val="dk1"/>
                </a:solidFill>
              </a:rPr>
              <a:t>Fashion-MNIST (dataset) 16x16 image</a:t>
            </a:r>
            <a:br>
              <a:rPr b="1" lang="en-CA" sz="1620">
                <a:solidFill>
                  <a:schemeClr val="dk1"/>
                </a:solidFill>
              </a:rPr>
            </a:br>
            <a:r>
              <a:rPr b="1" lang="en-CA" sz="1620">
                <a:solidFill>
                  <a:schemeClr val="dk1"/>
                </a:solidFill>
              </a:rPr>
              <a:t>                        ↓</a:t>
            </a:r>
            <a:br>
              <a:rPr b="1" lang="en-CA" sz="1620">
                <a:solidFill>
                  <a:schemeClr val="dk1"/>
                </a:solidFill>
              </a:rPr>
            </a:br>
            <a:r>
              <a:rPr b="1" lang="en-CA" sz="1620">
                <a:solidFill>
                  <a:schemeClr val="dk1"/>
                </a:solidFill>
              </a:rPr>
              <a:t>Convert pixels into RY angles</a:t>
            </a:r>
            <a:br>
              <a:rPr b="1" lang="en-CA" sz="1620">
                <a:solidFill>
                  <a:schemeClr val="dk1"/>
                </a:solidFill>
              </a:rPr>
            </a:br>
            <a:r>
              <a:rPr b="1" lang="en-CA" sz="1620">
                <a:solidFill>
                  <a:schemeClr val="dk1"/>
                </a:solidFill>
              </a:rPr>
              <a:t>                        ↓</a:t>
            </a:r>
            <a:br>
              <a:rPr b="1" lang="en-CA" sz="1620">
                <a:solidFill>
                  <a:schemeClr val="dk1"/>
                </a:solidFill>
              </a:rPr>
            </a:br>
            <a:r>
              <a:rPr b="1" lang="en-CA" sz="1620">
                <a:solidFill>
                  <a:schemeClr val="dk1"/>
                </a:solidFill>
              </a:rPr>
              <a:t>Run quantum circuit many times</a:t>
            </a:r>
            <a:br>
              <a:rPr b="1" lang="en-CA" sz="1620">
                <a:solidFill>
                  <a:schemeClr val="dk1"/>
                </a:solidFill>
              </a:rPr>
            </a:br>
            <a:r>
              <a:rPr b="1" lang="en-CA" sz="1620">
                <a:solidFill>
                  <a:schemeClr val="dk1"/>
                </a:solidFill>
              </a:rPr>
              <a:t>                     </a:t>
            </a:r>
            <a:endParaRPr b="1" sz="1620">
              <a:solidFill>
                <a:schemeClr val="dk1"/>
              </a:solidFill>
            </a:endParaRPr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750" y="2904825"/>
            <a:ext cx="7129176" cy="19792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/>
        </p:nvSpPr>
        <p:spPr>
          <a:xfrm>
            <a:off x="4627250" y="892675"/>
            <a:ext cx="4700400" cy="20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br>
              <a:rPr b="1" lang="en-CA" sz="1620">
                <a:solidFill>
                  <a:schemeClr val="dk1"/>
                </a:solidFill>
              </a:rPr>
            </a:br>
            <a:r>
              <a:rPr b="1" lang="en-CA" sz="1620">
                <a:solidFill>
                  <a:schemeClr val="dk1"/>
                </a:solidFill>
              </a:rPr>
              <a:t>Measure qubits → brightness probabilities</a:t>
            </a:r>
            <a:br>
              <a:rPr b="1" lang="en-CA" sz="1620">
                <a:solidFill>
                  <a:schemeClr val="dk1"/>
                </a:solidFill>
              </a:rPr>
            </a:br>
            <a:r>
              <a:rPr b="1" lang="en-CA" sz="1620">
                <a:solidFill>
                  <a:schemeClr val="dk1"/>
                </a:solidFill>
              </a:rPr>
              <a:t>                        ↓</a:t>
            </a:r>
            <a:br>
              <a:rPr b="1" lang="en-CA" sz="1620">
                <a:solidFill>
                  <a:schemeClr val="dk1"/>
                </a:solidFill>
              </a:rPr>
            </a:br>
            <a:r>
              <a:rPr b="1" lang="en-CA" sz="1620">
                <a:solidFill>
                  <a:schemeClr val="dk1"/>
                </a:solidFill>
              </a:rPr>
              <a:t>Compare generated image with real image</a:t>
            </a:r>
            <a:br>
              <a:rPr b="1" lang="en-CA" sz="1620">
                <a:solidFill>
                  <a:schemeClr val="dk1"/>
                </a:solidFill>
              </a:rPr>
            </a:br>
            <a:r>
              <a:rPr b="1" lang="en-CA" sz="1620">
                <a:solidFill>
                  <a:schemeClr val="dk1"/>
                </a:solidFill>
              </a:rPr>
              <a:t>                        ↓</a:t>
            </a:r>
            <a:br>
              <a:rPr b="1" lang="en-CA" sz="1620">
                <a:solidFill>
                  <a:schemeClr val="dk1"/>
                </a:solidFill>
              </a:rPr>
            </a:br>
            <a:r>
              <a:rPr b="1" lang="en-CA" sz="1620">
                <a:solidFill>
                  <a:schemeClr val="dk1"/>
                </a:solidFill>
              </a:rPr>
              <a:t>Update angles using SPSA / parameter-shift</a:t>
            </a:r>
            <a:br>
              <a:rPr b="1" lang="en-CA" sz="1620">
                <a:solidFill>
                  <a:schemeClr val="dk1"/>
                </a:solidFill>
              </a:rPr>
            </a:br>
            <a:r>
              <a:rPr b="1" lang="en-CA" sz="1620">
                <a:solidFill>
                  <a:schemeClr val="dk1"/>
                </a:solidFill>
              </a:rPr>
              <a:t>                        ↓</a:t>
            </a:r>
            <a:br>
              <a:rPr b="1" lang="en-CA" sz="1620">
                <a:solidFill>
                  <a:schemeClr val="dk1"/>
                </a:solidFill>
              </a:rPr>
            </a:br>
            <a:r>
              <a:rPr b="1" lang="en-CA" sz="1620">
                <a:solidFill>
                  <a:schemeClr val="dk1"/>
                </a:solidFill>
              </a:rPr>
              <a:t>                  Repeat</a:t>
            </a:r>
            <a:endParaRPr b="1" sz="1620">
              <a:solidFill>
                <a:schemeClr val="dk1"/>
              </a:solidFill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353868">
            <a:off x="3270800" y="1019521"/>
            <a:ext cx="1289725" cy="128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/>
              <a:t>It works on the IBM computer (First model)</a:t>
            </a:r>
            <a:endParaRPr b="1"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CA" sz="2000">
                <a:solidFill>
                  <a:schemeClr val="dk1"/>
                </a:solidFill>
              </a:rPr>
              <a:t>We can choose the number of shots.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450" y="1759350"/>
            <a:ext cx="3295650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8575" y="167900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5952825" y="1152475"/>
            <a:ext cx="2418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CA" sz="2000">
                <a:solidFill>
                  <a:schemeClr val="dk1"/>
                </a:solidFill>
              </a:rPr>
              <a:t>Here is the result.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CA" sz="3020"/>
              <a:t>We also tried another way (Vector Graphics)</a:t>
            </a:r>
            <a:endParaRPr b="1" sz="3020"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1140725"/>
            <a:ext cx="3025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CA" sz="2000">
                <a:solidFill>
                  <a:schemeClr val="dk1"/>
                </a:solidFill>
              </a:rPr>
              <a:t>What it is:</a:t>
            </a:r>
            <a:r>
              <a:rPr lang="en-CA" sz="2000">
                <a:solidFill>
                  <a:schemeClr val="dk1"/>
                </a:solidFill>
              </a:rPr>
              <a:t> Text-to-vector image generator.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CA" sz="2000">
                <a:solidFill>
                  <a:schemeClr val="dk1"/>
                </a:solidFill>
              </a:rPr>
              <a:t>The Tech Stack:</a:t>
            </a:r>
            <a:r>
              <a:rPr lang="en-CA" sz="2000">
                <a:solidFill>
                  <a:schemeClr val="dk1"/>
                </a:solidFill>
              </a:rPr>
              <a:t> PennyLane (Quantum) + PyTorch (Classical).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CA" sz="2000">
                <a:solidFill>
                  <a:schemeClr val="dk1"/>
                </a:solidFill>
              </a:rPr>
              <a:t>The Goal:</a:t>
            </a:r>
            <a:r>
              <a:rPr lang="en-CA" sz="2000">
                <a:solidFill>
                  <a:schemeClr val="dk1"/>
                </a:solidFill>
              </a:rPr>
              <a:t> Prove quantum parameter efficiency in generative AI.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0973" y="1312075"/>
            <a:ext cx="5226041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288748" y="410597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2781"/>
              <a:buFont typeface="Arial"/>
              <a:buNone/>
            </a:pPr>
            <a:r>
              <a:rPr b="1" lang="en-CA" sz="3020" u="sng"/>
              <a:t>The training algorithm (Second model)</a:t>
            </a:r>
            <a:endParaRPr b="1" sz="302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CA" sz="2000">
                <a:solidFill>
                  <a:schemeClr val="dk1"/>
                </a:solidFill>
              </a:rPr>
              <a:t>1. Classical Encode:</a:t>
            </a:r>
            <a:r>
              <a:rPr lang="en-CA" sz="2000">
                <a:solidFill>
                  <a:schemeClr val="dk1"/>
                </a:solidFill>
              </a:rPr>
              <a:t> Maps text prompts (shape/color) to frequencies.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CA" sz="2000">
                <a:solidFill>
                  <a:schemeClr val="dk1"/>
                </a:solidFill>
              </a:rPr>
              <a:t>2. Quantum Circuit:</a:t>
            </a:r>
            <a:r>
              <a:rPr lang="en-CA" sz="2000">
                <a:solidFill>
                  <a:schemeClr val="dk1"/>
                </a:solidFill>
              </a:rPr>
              <a:t> A 10-qubit circuit entangles features with injected noise.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CA" sz="2000">
                <a:solidFill>
                  <a:schemeClr val="dk1"/>
                </a:solidFill>
              </a:rPr>
              <a:t>3. Measurement:</a:t>
            </a:r>
            <a:r>
              <a:rPr lang="en-CA" sz="2000">
                <a:solidFill>
                  <a:schemeClr val="dk1"/>
                </a:solidFill>
              </a:rPr>
              <a:t> Expectation values (⟨Z⟩) form a classical latent vector.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CA" sz="2000">
                <a:solidFill>
                  <a:schemeClr val="dk1"/>
                </a:solidFill>
              </a:rPr>
              <a:t>4. Classical Decode:</a:t>
            </a:r>
            <a:r>
              <a:rPr lang="en-CA" sz="2000">
                <a:solidFill>
                  <a:schemeClr val="dk1"/>
                </a:solidFill>
              </a:rPr>
              <a:t> A lightweight neural network draws the final SVG.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700" u="sng"/>
              <a:t>The "Quantum Advantage"</a:t>
            </a:r>
            <a:endParaRPr sz="2700" u="sng"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CA" sz="2000">
                <a:solidFill>
                  <a:schemeClr val="dk1"/>
                </a:solidFill>
              </a:rPr>
              <a:t>Not about brute speed:</a:t>
            </a:r>
            <a:r>
              <a:rPr lang="en-CA" sz="2000">
                <a:solidFill>
                  <a:schemeClr val="dk1"/>
                </a:solidFill>
              </a:rPr>
              <a:t> Classical hardware is faster at drawing shapes.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CA" sz="2000">
                <a:solidFill>
                  <a:schemeClr val="dk1"/>
                </a:solidFill>
              </a:rPr>
              <a:t>Massive State Space:</a:t>
            </a:r>
            <a:r>
              <a:rPr lang="en-CA" sz="2000">
                <a:solidFill>
                  <a:schemeClr val="dk1"/>
                </a:solidFill>
              </a:rPr>
              <a:t> 10 qubits = 210 (1,024-dimensional) complex Hilbert space.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CA" sz="2000">
                <a:solidFill>
                  <a:schemeClr val="dk1"/>
                </a:solidFill>
              </a:rPr>
              <a:t>Parameter Efficiency:</a:t>
            </a:r>
            <a:r>
              <a:rPr lang="en-CA" sz="2000">
                <a:solidFill>
                  <a:schemeClr val="dk1"/>
                </a:solidFill>
              </a:rPr>
              <a:t> Replaces massive classical layers with a compact quantum circuit.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CA" sz="2000">
                <a:solidFill>
                  <a:schemeClr val="dk1"/>
                </a:solidFill>
              </a:rPr>
              <a:t>Correlated Noise:</a:t>
            </a:r>
            <a:r>
              <a:rPr lang="en-CA" sz="2000">
                <a:solidFill>
                  <a:schemeClr val="dk1"/>
                </a:solidFill>
              </a:rPr>
              <a:t> Quantum entanglement structurally links the generated layout.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CA" sz="3020"/>
              <a:t>How to make it better?</a:t>
            </a:r>
            <a:endParaRPr b="1" sz="3020"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2743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CA" sz="2100">
                <a:solidFill>
                  <a:schemeClr val="dk1"/>
                </a:solidFill>
              </a:rPr>
              <a:t>Upscaling the image.</a:t>
            </a:r>
            <a:br>
              <a:rPr lang="en-CA" sz="2100">
                <a:solidFill>
                  <a:schemeClr val="dk1"/>
                </a:solidFill>
              </a:rPr>
            </a:br>
            <a:br>
              <a:rPr lang="en-CA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</p:txBody>
      </p:sp>
      <p:pic>
        <p:nvPicPr>
          <p:cNvPr id="118" name="Google Shape;1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8925" y="1641475"/>
            <a:ext cx="2808375" cy="280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9900" y="1641475"/>
            <a:ext cx="2808375" cy="280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1"/>
          <p:cNvSpPr/>
          <p:nvPr/>
        </p:nvSpPr>
        <p:spPr>
          <a:xfrm>
            <a:off x="3617200" y="2414525"/>
            <a:ext cx="1602600" cy="106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00"/>
              </a:solidFill>
              <a:highlight>
                <a:srgbClr val="00FF00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311700" y="103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700"/>
              <a:t>Downscaling: Quantum Monte Carlo Integration (QMCI)</a:t>
            </a:r>
            <a:endParaRPr sz="2700"/>
          </a:p>
        </p:txBody>
      </p:sp>
      <p:sp>
        <p:nvSpPr>
          <p:cNvPr id="126" name="Google Shape;126;p22"/>
          <p:cNvSpPr txBox="1"/>
          <p:nvPr/>
        </p:nvSpPr>
        <p:spPr>
          <a:xfrm>
            <a:off x="60100" y="997450"/>
            <a:ext cx="9084000" cy="4146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b="1" lang="en-CA" sz="2000">
                <a:solidFill>
                  <a:schemeClr val="dk1"/>
                </a:solidFill>
              </a:rPr>
              <a:t>Mechanism:</a:t>
            </a:r>
            <a:r>
              <a:rPr lang="en-CA" sz="2000">
                <a:solidFill>
                  <a:schemeClr val="dk1"/>
                </a:solidFill>
              </a:rPr>
              <a:t> Replaces classical block-averaging with Iterative Amplitude Estimation (IAE).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b="1" lang="en-CA" sz="2000">
                <a:solidFill>
                  <a:schemeClr val="dk1"/>
                </a:solidFill>
              </a:rPr>
              <a:t>State Preparation:</a:t>
            </a:r>
            <a:r>
              <a:rPr lang="en-CA" sz="2000">
                <a:solidFill>
                  <a:schemeClr val="dk1"/>
                </a:solidFill>
              </a:rPr>
              <a:t> Pixel intensities are encoded via multi-controlled Ry​ gates onto an ancilla qubit.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b="1" lang="en-CA" sz="2000">
                <a:solidFill>
                  <a:schemeClr val="dk1"/>
                </a:solidFill>
              </a:rPr>
              <a:t>Advantage:</a:t>
            </a:r>
            <a:r>
              <a:rPr lang="en-CA" sz="2000">
                <a:solidFill>
                  <a:schemeClr val="dk1"/>
                </a:solidFill>
              </a:rPr>
              <a:t> Achieves quadratic speedup in query complexity for calculating the mean intensity of pixel blocks.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b="1" lang="en-CA" sz="2000">
                <a:solidFill>
                  <a:schemeClr val="dk1"/>
                </a:solidFill>
              </a:rPr>
              <a:t>Execution:</a:t>
            </a:r>
            <a:r>
              <a:rPr lang="en-CA" sz="2000">
                <a:solidFill>
                  <a:schemeClr val="dk1"/>
                </a:solidFill>
              </a:rPr>
              <a:t> Highly parallelized, launching independent Qiskit </a:t>
            </a:r>
            <a:r>
              <a:rPr lang="en-CA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StatevectorSampler</a:t>
            </a:r>
            <a:r>
              <a:rPr lang="en-CA" sz="2000">
                <a:solidFill>
                  <a:schemeClr val="dk1"/>
                </a:solidFill>
              </a:rPr>
              <a:t> instances per block and color channel.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11700" y="167191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700"/>
              <a:t>Quantum Upscaling via Dicke-State Halftoning</a:t>
            </a:r>
            <a:endParaRPr sz="2700"/>
          </a:p>
        </p:txBody>
      </p:sp>
      <p:sp>
        <p:nvSpPr>
          <p:cNvPr id="132" name="Google Shape;132;p23"/>
          <p:cNvSpPr txBox="1"/>
          <p:nvPr/>
        </p:nvSpPr>
        <p:spPr>
          <a:xfrm>
            <a:off x="72100" y="841225"/>
            <a:ext cx="9072000" cy="42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CA" sz="1800">
                <a:solidFill>
                  <a:schemeClr val="dk1"/>
                </a:solidFill>
              </a:rPr>
              <a:t>The Halftoning Challenge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CA" sz="1800">
                <a:solidFill>
                  <a:schemeClr val="dk1"/>
                </a:solidFill>
              </a:rPr>
              <a:t>Upscaling requires blending between a k-means generated color palette.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CA" sz="1800">
                <a:solidFill>
                  <a:schemeClr val="dk1"/>
                </a:solidFill>
              </a:rPr>
              <a:t>Classical error-diffusion often creates spatial clustering or rigid patterns.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CA" sz="1800">
                <a:solidFill>
                  <a:schemeClr val="dk1"/>
                </a:solidFill>
              </a:rPr>
              <a:t>The Quantum Solution: Dicke States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CA" sz="1800">
                <a:solidFill>
                  <a:schemeClr val="dk1"/>
                </a:solidFill>
              </a:rPr>
              <a:t>Mechanism:</a:t>
            </a:r>
            <a:r>
              <a:rPr lang="en-CA" sz="1800">
                <a:solidFill>
                  <a:schemeClr val="dk1"/>
                </a:solidFill>
              </a:rPr>
              <a:t> Projects the source pixel onto the segment between its two nearest palette colors to find a blend ratio k.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CA" sz="1800">
                <a:solidFill>
                  <a:schemeClr val="dk1"/>
                </a:solidFill>
              </a:rPr>
              <a:t>Superposition:</a:t>
            </a:r>
            <a:r>
              <a:rPr lang="en-CA" sz="1800">
                <a:solidFill>
                  <a:schemeClr val="dk1"/>
                </a:solidFill>
              </a:rPr>
              <a:t> Utilizes a Dicke state ∣D(n,k)⟩—a uniform superposition of all n-bit strings with exactly k ones.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CA" sz="1800">
                <a:solidFill>
                  <a:schemeClr val="dk1"/>
                </a:solidFill>
              </a:rPr>
              <a:t>Result:</a:t>
            </a:r>
            <a:r>
              <a:rPr lang="en-CA" sz="1800">
                <a:solidFill>
                  <a:schemeClr val="dk1"/>
                </a:solidFill>
              </a:rPr>
              <a:t> Measuring this state yields a random bitstring that distributes the high/low colors with mathematically optimal uniformity, generating a superior, organic dithering effect.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